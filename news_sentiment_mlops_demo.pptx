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7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731520"/>
            <a:ext cx="2834640" cy="2834640"/>
          </a:xfrm>
          <a:prstGeom prst="ellipse">
            <a:avLst/>
          </a:prstGeom>
          <a:noFill/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89720" y="1417320"/>
            <a:ext cx="2011680" cy="2011680"/>
          </a:xfrm>
          <a:prstGeom prst="ellipse">
            <a:avLst/>
          </a:prstGeom>
          <a:noFill/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32520" y="2788920"/>
            <a:ext cx="1234440" cy="1234440"/>
          </a:xfrm>
          <a:prstGeom prst="ellipse">
            <a:avLst/>
          </a:prstGeom>
          <a:noFill/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1323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>
                <a:solidFill>
                  <a:srgbClr val="2DD4BF"/>
                </a:solidFill>
                <a:latin typeface="Aptos"/>
              </a:rPr>
              <a:t>BITS AI ENGINEERING &amp; MLOPS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498079" cy="1417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News Sentiment
Classification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1630"/>
            <a:ext cx="6492240" cy="202517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900" b="0" dirty="0">
                <a:solidFill>
                  <a:srgbClr val="BECADB"/>
                </a:solidFill>
                <a:latin typeface="Aptos"/>
              </a:rPr>
              <a:t>From raw news data to a deployed ML API with </a:t>
            </a:r>
            <a:r>
              <a:rPr sz="1900" b="0" dirty="0" smtClean="0">
                <a:solidFill>
                  <a:srgbClr val="BECADB"/>
                </a:solidFill>
                <a:latin typeface="Aptos"/>
              </a:rPr>
              <a:t>observability</a:t>
            </a:r>
            <a:r>
              <a:rPr lang="en-IN" sz="1900" b="0" dirty="0" smtClean="0">
                <a:solidFill>
                  <a:srgbClr val="BECADB"/>
                </a:solidFill>
                <a:latin typeface="Aptos"/>
              </a:rPr>
              <a:t/>
            </a:r>
            <a:br>
              <a:rPr lang="en-IN" sz="1900" b="0" dirty="0" smtClean="0">
                <a:solidFill>
                  <a:srgbClr val="BECADB"/>
                </a:solidFill>
                <a:latin typeface="Aptos"/>
              </a:rPr>
            </a:br>
            <a:r>
              <a:rPr lang="en-IN" sz="1900" b="0" dirty="0" smtClean="0">
                <a:solidFill>
                  <a:srgbClr val="BECADB"/>
                </a:solidFill>
                <a:latin typeface="Aptos"/>
              </a:rPr>
              <a:t/>
            </a:r>
            <a:br>
              <a:rPr lang="en-IN" sz="1900" b="0" dirty="0" smtClean="0">
                <a:solidFill>
                  <a:srgbClr val="BECADB"/>
                </a:solidFill>
                <a:latin typeface="Aptos"/>
              </a:rPr>
            </a:br>
            <a:r>
              <a:rPr lang="en-IN" sz="1600" b="1" dirty="0" smtClean="0">
                <a:solidFill>
                  <a:srgbClr val="BECADB"/>
                </a:solidFill>
                <a:latin typeface="Aptos"/>
              </a:rPr>
              <a:t>Name : </a:t>
            </a:r>
            <a:r>
              <a:rPr lang="en-IN" sz="16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Tushar Pal</a:t>
            </a:r>
            <a:r>
              <a:rPr lang="en-IN" sz="1600" b="1" dirty="0" smtClean="0">
                <a:solidFill>
                  <a:srgbClr val="BECADB"/>
                </a:solidFill>
                <a:latin typeface="Aptos"/>
              </a:rPr>
              <a:t/>
            </a:r>
            <a:br>
              <a:rPr lang="en-IN" sz="1600" b="1" dirty="0" smtClean="0">
                <a:solidFill>
                  <a:srgbClr val="BECADB"/>
                </a:solidFill>
                <a:latin typeface="Aptos"/>
              </a:rPr>
            </a:br>
            <a:r>
              <a:rPr lang="en-IN" sz="1600" b="1" dirty="0" smtClean="0">
                <a:solidFill>
                  <a:srgbClr val="BECADB"/>
                </a:solidFill>
                <a:latin typeface="Aptos"/>
              </a:rPr>
              <a:t>Email : </a:t>
            </a:r>
            <a:r>
              <a:rPr lang="en-IN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2026a1c100025@bitspilani-digital.edu.in</a:t>
            </a: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sz="2000" dirty="0"/>
              <a:t/>
            </a:r>
            <a:br>
              <a:rPr lang="en-IN" sz="2000" dirty="0"/>
            </a:br>
            <a:endParaRPr sz="1900" b="0" dirty="0">
              <a:solidFill>
                <a:srgbClr val="BECADB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1097280" cy="438912"/>
          </a:xfrm>
          <a:prstGeom prst="roundRect">
            <a:avLst/>
          </a:prstGeom>
          <a:solidFill>
            <a:srgbClr val="192741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4672584"/>
            <a:ext cx="1024127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dirty="0">
                <a:solidFill>
                  <a:srgbClr val="2DD4BF"/>
                </a:solidFill>
                <a:latin typeface="Aptos"/>
              </a:rPr>
              <a:t>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572000"/>
            <a:ext cx="1234440" cy="438912"/>
          </a:xfrm>
          <a:prstGeom prst="roundRect">
            <a:avLst/>
          </a:prstGeom>
          <a:solidFill>
            <a:srgbClr val="192741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4672584"/>
            <a:ext cx="1161288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DEPLOY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572000"/>
            <a:ext cx="1417320" cy="438912"/>
          </a:xfrm>
          <a:prstGeom prst="roundRect">
            <a:avLst/>
          </a:prstGeom>
          <a:solidFill>
            <a:srgbClr val="192741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6" y="4672584"/>
            <a:ext cx="1344168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Aptos"/>
              </a:rPr>
              <a:t>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The goal: make news sentiment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A compact pipeline that demonstrates machine learning and operational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73152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747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203704"/>
            <a:ext cx="50292" cy="20848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1272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3127248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News titles and descriptions
Source, topic and publication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57400"/>
            <a:ext cx="34747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203704"/>
            <a:ext cx="50292" cy="20848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1272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624328"/>
            <a:ext cx="3127248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TF-IDF text features
Logistic Regression classifier
Positive / negative / neutral labels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4747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203704"/>
            <a:ext cx="50292" cy="20848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12848"/>
            <a:ext cx="31272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24328"/>
            <a:ext cx="3127248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HTTP prediction API
Batch inference and reports
Prometheus + Grafana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607040" cy="685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Demo focus: reproducibility • evaluation • serving • observability • responsible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92240"/>
            <a:ext cx="9144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1">
                <a:solidFill>
                  <a:srgbClr val="BECADB"/>
                </a:solidFill>
                <a:latin typeface="Aptos"/>
              </a:rPr>
              <a:t>NEWS SENTIMENT MLOPS • CAPSTONE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02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One workflow, from data to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The deployed service runs in Docker on an AWS EC2 instance.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73152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828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441448"/>
            <a:ext cx="168249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Raw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1645920" cy="6126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News data
+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31720"/>
            <a:ext cx="1828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2441448"/>
            <a:ext cx="168249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07208"/>
            <a:ext cx="1645920" cy="6126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Clean • split
train • evaluate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331720"/>
            <a:ext cx="1828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2" y="2441448"/>
            <a:ext cx="168249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807208"/>
            <a:ext cx="1645920" cy="6126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Model • metrics
manifest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331720"/>
            <a:ext cx="18288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96912" y="2441448"/>
            <a:ext cx="168249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ML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07208"/>
            <a:ext cx="1645920" cy="6126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Predict
batch infer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331720"/>
            <a:ext cx="214884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7192" y="2441448"/>
            <a:ext cx="200253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807208"/>
            <a:ext cx="1965960" cy="6126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Prometheus
→ Grafana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907792"/>
            <a:ext cx="41148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907792"/>
            <a:ext cx="41148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2907792"/>
            <a:ext cx="41148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52560" y="2907792"/>
            <a:ext cx="41148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4160520"/>
            <a:ext cx="48463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2688" y="4306824"/>
            <a:ext cx="50292" cy="85039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315968"/>
            <a:ext cx="44988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Aptos"/>
              </a:rPr>
              <a:t>BUILD &amp; 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727448"/>
            <a:ext cx="4498848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BECADB"/>
                </a:solidFill>
                <a:latin typeface="Aptos"/>
              </a:rPr>
              <a:t>Python pipeline • Docker image • Compose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60520"/>
            <a:ext cx="484632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9088" y="4306824"/>
            <a:ext cx="50292" cy="8503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4315968"/>
            <a:ext cx="44988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Aptos"/>
              </a:rPr>
              <a:t>RUN &amp; OBSERVE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27448"/>
            <a:ext cx="4498848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BECADB"/>
                </a:solidFill>
                <a:latin typeface="Aptos"/>
              </a:rPr>
              <a:t>EC2 host • health endpoint • request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492240"/>
            <a:ext cx="9144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1">
                <a:solidFill>
                  <a:srgbClr val="BECADB"/>
                </a:solidFill>
                <a:latin typeface="Aptos"/>
              </a:rPr>
              <a:t>NEWS SENTIMENT MLOPS • CAPSTONE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03 •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Train carefully; report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Chronological evaluation and versioned artifacts support a reproducible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73152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2900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203704"/>
            <a:ext cx="50292" cy="22677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30815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3081528" cy="19202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• Validate required columns
• Handle missing descriptions
• Detect duplicates / rejected rows
• Chronological train / validation / 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7" y="2203704"/>
            <a:ext cx="50292" cy="22677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30815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24328"/>
            <a:ext cx="3081528" cy="19202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• TF-IDF word and bigram features
• Logistic Regression
• Compare validation candidates
• Save model and manifest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42900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0727" y="2203704"/>
            <a:ext cx="50292" cy="226771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2212848"/>
            <a:ext cx="30815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RECORDED TEST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24328"/>
            <a:ext cx="3081528" cy="19202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500" b="0">
                <a:solidFill>
                  <a:srgbClr val="BECADB"/>
                </a:solidFill>
                <a:latin typeface="Aptos"/>
              </a:rPr>
              <a:t>Accuracy: 71.38%
Macro F1: 0.610
From the current EC2 training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6070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Aptos"/>
              </a:rPr>
              <a:t>Important: labels are automated and not independently verified; scores measure agreement with supplied labels.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92240"/>
            <a:ext cx="9144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1">
                <a:solidFill>
                  <a:srgbClr val="BECADB"/>
                </a:solidFill>
                <a:latin typeface="Aptos"/>
              </a:rPr>
              <a:t>NEWS SENTIMENT MLOPS • CAPSTONE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04 •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Show a real prediction from the deployed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Reachable through the SSH tunnel while the tunnel session remains open.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73152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HEALTH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21208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http://127.0.0.1:18002/health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Aptos"/>
              </a:rPr>
              <a:t>POST REQUEST • POWERSHELL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6720840" cy="1600200"/>
          </a:xfrm>
          <a:prstGeom prst="roundRect">
            <a:avLst/>
          </a:prstGeom>
          <a:solidFill>
            <a:srgbClr val="080F1E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85032"/>
            <a:ext cx="6355080" cy="1280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>
                <a:solidFill>
                  <a:srgbClr val="D2E2F2"/>
                </a:solidFill>
                <a:latin typeface="Consolas"/>
              </a:rPr>
              <a:t>Invoke-RestMethod `
  -Uri "http://127.0.0.1:18002/predict" `
  -Method Post `
  -ContentType "application/json" `
  -Body '{"title":"The company reported excellent earnings and strong revenue growth."}'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240280"/>
            <a:ext cx="352044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6408" y="2386584"/>
            <a:ext cx="50292" cy="2450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2395728"/>
            <a:ext cx="317296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EXPLAIN THE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07208"/>
            <a:ext cx="3172968" cy="2103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• Predicted sentiment
• Confidence score
• Model version
• needs_review flag
• Explainability terms, if returned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69848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1">
                <a:solidFill>
                  <a:srgbClr val="FBBF24"/>
                </a:solidFill>
                <a:latin typeface="Aptos"/>
              </a:rPr>
              <a:t>Use POST for /predict; opening it directly in a browser sends GET and may return “Route not found.”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92240"/>
            <a:ext cx="9144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1">
                <a:solidFill>
                  <a:srgbClr val="BECADB"/>
                </a:solidFill>
                <a:latin typeface="Aptos"/>
              </a:rPr>
              <a:t>NEWS SENTIMENT MLOPS • CAPSTONE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05 •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Monitoring is part of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Show that the service exposes metrics and Prometheus can scrape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73152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283464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441448"/>
            <a:ext cx="268833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ML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2651760" cy="7955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/health • /monitoring
/metrics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999232"/>
            <a:ext cx="96012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2331720"/>
            <a:ext cx="283464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441448"/>
            <a:ext cx="268833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Prometheus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807208"/>
            <a:ext cx="2651760" cy="7955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Scrape target
status: 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2999232"/>
            <a:ext cx="96012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2331720"/>
            <a:ext cx="283464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2441448"/>
            <a:ext cx="2688336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Grafana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807208"/>
            <a:ext cx="2651760" cy="7955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>
                <a:solidFill>
                  <a:srgbClr val="BECADB"/>
                </a:solidFill>
                <a:latin typeface="Aptos"/>
              </a:rPr>
              <a:t>Service dashboard
request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51960"/>
            <a:ext cx="48006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" y="4398264"/>
            <a:ext cx="50292" cy="804671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07408"/>
            <a:ext cx="44531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Aptos"/>
              </a:rPr>
              <a:t>METRICS TO POINT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18888"/>
            <a:ext cx="445312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BECADB"/>
                </a:solidFill>
                <a:latin typeface="Aptos"/>
              </a:rPr>
              <a:t>Request count • errors • predictions • 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251960"/>
            <a:ext cx="48006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64807" y="4398264"/>
            <a:ext cx="50292" cy="804671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407408"/>
            <a:ext cx="44531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400" b="1">
                <a:solidFill>
                  <a:srgbClr val="F8FAFC"/>
                </a:solidFill>
                <a:latin typeface="Aptos"/>
              </a:rPr>
              <a:t>DEPLOYMENT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818888"/>
            <a:ext cx="4453128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>
                <a:solidFill>
                  <a:srgbClr val="BECADB"/>
                </a:solidFill>
                <a:latin typeface="Aptos"/>
              </a:rPr>
              <a:t>Services bound to localhost; access via SSH tunnel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92240"/>
            <a:ext cx="9144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1">
                <a:solidFill>
                  <a:srgbClr val="BECADB"/>
                </a:solidFill>
                <a:latin typeface="Aptos"/>
              </a:rPr>
              <a:t>NEWS SENTIMENT MLOPS • CAPSTONE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06 • ENGINEERING &amp;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Reliable delivery includes limits and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80160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Close with what is implemented and what should improve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73152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747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157984"/>
            <a:ext cx="50292" cy="20848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31272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ENGINEERING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3127248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• Public GitHub repository
• Dockerfile + Compose
• Show actual tests / CI workflow
• EC2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157984"/>
            <a:ext cx="50292" cy="20848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2167128"/>
            <a:ext cx="31272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RESPONSIBLE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78608"/>
            <a:ext cx="3127248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• Automated labels are imperfect
• Confidence is not calibrated
• Low-confidence review threshold
• Not a stock-price predictor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47472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9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157984"/>
            <a:ext cx="50292" cy="20848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67128"/>
            <a:ext cx="312724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NEXT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78608"/>
            <a:ext cx="3127248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BECADB"/>
                </a:solidFill>
                <a:latin typeface="Aptos"/>
              </a:rPr>
              <a:t>• Human-labelled evaluation
• Calibration and drift alerts
• Stronger test coverage
• Automated deployment, if not wired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End-to-end: data → train → evaluate → serve →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Thank you •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92240"/>
            <a:ext cx="9144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800" b="1">
                <a:solidFill>
                  <a:srgbClr val="BECADB"/>
                </a:solidFill>
                <a:latin typeface="Aptos"/>
              </a:rPr>
              <a:t>NEWS SENTIMENT MLOPS • CAPSTONE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900" b="1">
                <a:solidFill>
                  <a:srgbClr val="2DD4B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2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637</Words>
  <Application>Microsoft Office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Tushar Pal</cp:lastModifiedBy>
  <cp:revision>3</cp:revision>
  <dcterms:created xsi:type="dcterms:W3CDTF">2013-01-27T09:14:16Z</dcterms:created>
  <dcterms:modified xsi:type="dcterms:W3CDTF">2026-10-24T18:31:22Z</dcterms:modified>
  <cp:category/>
</cp:coreProperties>
</file>